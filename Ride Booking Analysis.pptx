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7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8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1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07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66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20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99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05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761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0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67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04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3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513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53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208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371571-35BB-4464-B77C-B4B0ADC8C2F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0E4DF25-12B2-4E62-A031-FDC44C7C1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5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DACA-A5AD-EAB1-8CE3-A4E1FEB11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536" y="1504335"/>
            <a:ext cx="8574622" cy="2487561"/>
          </a:xfrm>
        </p:spPr>
        <p:txBody>
          <a:bodyPr>
            <a:noAutofit/>
          </a:bodyPr>
          <a:lstStyle/>
          <a:p>
            <a:pPr algn="ctr"/>
            <a:r>
              <a:rPr lang="en-US" sz="7200" u="sng" dirty="0">
                <a:solidFill>
                  <a:srgbClr val="C00000"/>
                </a:solidFill>
                <a:latin typeface="Arial Black" panose="020B0A04020102020204" pitchFamily="34" charset="0"/>
              </a:rPr>
              <a:t>Ride Booking Analysis</a:t>
            </a:r>
            <a:endParaRPr lang="en-IN" sz="7200" u="sng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2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58C2F-5552-EFE8-56D8-EC87AC59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891" y="562897"/>
            <a:ext cx="7187741" cy="985684"/>
          </a:xfrm>
        </p:spPr>
        <p:txBody>
          <a:bodyPr>
            <a:normAutofit/>
          </a:bodyPr>
          <a:lstStyle/>
          <a:p>
            <a:r>
              <a:rPr lang="en-US" sz="5400" u="sng" dirty="0"/>
              <a:t>Objective</a:t>
            </a:r>
            <a:endParaRPr lang="en-IN" sz="5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5932-4FA8-6B68-ADC8-A174F5105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278" y="2185218"/>
            <a:ext cx="10018713" cy="3124201"/>
          </a:xfrm>
        </p:spPr>
        <p:txBody>
          <a:bodyPr>
            <a:normAutofit/>
          </a:bodyPr>
          <a:lstStyle/>
          <a:p>
            <a:r>
              <a:rPr lang="en-US" sz="3600" dirty="0"/>
              <a:t>To understand booking trends</a:t>
            </a:r>
          </a:p>
          <a:p>
            <a:r>
              <a:rPr lang="en-US" sz="3600" dirty="0"/>
              <a:t>Why cancellations happens?</a:t>
            </a:r>
          </a:p>
          <a:p>
            <a:r>
              <a:rPr lang="en-US" sz="3600" dirty="0"/>
              <a:t>What are the peak hours of Booking</a:t>
            </a:r>
          </a:p>
          <a:p>
            <a:r>
              <a:rPr lang="en-US" sz="3600" dirty="0"/>
              <a:t>How to increase the revenue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2942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A0AD-5FFE-306C-E999-58F6180E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7099250" cy="1251155"/>
          </a:xfrm>
        </p:spPr>
        <p:txBody>
          <a:bodyPr>
            <a:normAutofit/>
          </a:bodyPr>
          <a:lstStyle/>
          <a:p>
            <a:r>
              <a:rPr lang="en-US" sz="5400" u="sng" dirty="0"/>
              <a:t>EDA Insights</a:t>
            </a:r>
            <a:endParaRPr lang="en-IN" sz="5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9A5A-F41C-8995-5BE4-1AAA390F3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439" y="2185219"/>
            <a:ext cx="10018713" cy="3124201"/>
          </a:xfrm>
        </p:spPr>
        <p:txBody>
          <a:bodyPr>
            <a:normAutofit/>
          </a:bodyPr>
          <a:lstStyle/>
          <a:p>
            <a:r>
              <a:rPr lang="en-US" sz="3600" dirty="0"/>
              <a:t>Success Rate: ~70%</a:t>
            </a:r>
          </a:p>
          <a:p>
            <a:r>
              <a:rPr lang="en-US" sz="3600" dirty="0"/>
              <a:t>Customer cancellations: ~20%</a:t>
            </a:r>
          </a:p>
          <a:p>
            <a:r>
              <a:rPr lang="en-US" sz="3600" dirty="0"/>
              <a:t>Driver cancellations: ~10%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8893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6688-7683-81EA-3761-A01C9A0F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653" y="1"/>
            <a:ext cx="10176748" cy="1445342"/>
          </a:xfrm>
        </p:spPr>
        <p:txBody>
          <a:bodyPr>
            <a:normAutofit/>
          </a:bodyPr>
          <a:lstStyle/>
          <a:p>
            <a:r>
              <a:rPr lang="en-IN" sz="5400" u="sng" dirty="0"/>
              <a:t>Demand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4426D-F92E-7DAD-BA73-48ACF2CA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871" y="2166782"/>
            <a:ext cx="9252516" cy="379279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100" b="1" dirty="0"/>
              <a:t>      </a:t>
            </a:r>
            <a:r>
              <a:rPr lang="en-US" sz="6500" b="1" dirty="0"/>
              <a:t>Insight:</a:t>
            </a:r>
          </a:p>
          <a:p>
            <a:r>
              <a:rPr lang="en-US" sz="6500" dirty="0"/>
              <a:t>Peak ride demand occurs during </a:t>
            </a:r>
            <a:r>
              <a:rPr lang="en-US" sz="6500" b="1" dirty="0"/>
              <a:t>office hours</a:t>
            </a:r>
          </a:p>
          <a:p>
            <a:r>
              <a:rPr lang="en-US" sz="6500" b="1" dirty="0"/>
              <a:t>Weekends</a:t>
            </a:r>
            <a:r>
              <a:rPr lang="en-US" sz="6500" dirty="0"/>
              <a:t> show higher booking volume</a:t>
            </a:r>
          </a:p>
          <a:p>
            <a:pPr marL="0" indent="0">
              <a:buNone/>
            </a:pPr>
            <a:endParaRPr lang="en-US" sz="6500" dirty="0"/>
          </a:p>
          <a:p>
            <a:pPr marL="0" indent="0">
              <a:buNone/>
            </a:pPr>
            <a:r>
              <a:rPr lang="en-US" sz="6500" b="1" dirty="0"/>
              <a:t>💡 Interpretation:</a:t>
            </a:r>
          </a:p>
          <a:p>
            <a:r>
              <a:rPr lang="en-US" sz="6500" dirty="0"/>
              <a:t>Strong correlation with </a:t>
            </a:r>
            <a:r>
              <a:rPr lang="en-US" sz="6500" b="1" dirty="0"/>
              <a:t>office commute behavior</a:t>
            </a:r>
            <a:r>
              <a:rPr lang="en-US" sz="6500" dirty="0"/>
              <a:t> </a:t>
            </a:r>
          </a:p>
          <a:p>
            <a:r>
              <a:rPr lang="en-US" sz="6500" dirty="0"/>
              <a:t>Indicates predictable </a:t>
            </a:r>
            <a:r>
              <a:rPr lang="en-US" sz="6500" b="1" dirty="0"/>
              <a:t>rush-hour dependency</a:t>
            </a:r>
            <a:r>
              <a:rPr lang="en-US" sz="6500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80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C1EA-6A37-8F93-7440-6EDDDDB4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184" y="174524"/>
            <a:ext cx="10127586" cy="975852"/>
          </a:xfrm>
        </p:spPr>
        <p:txBody>
          <a:bodyPr>
            <a:normAutofit/>
          </a:bodyPr>
          <a:lstStyle/>
          <a:p>
            <a:r>
              <a:rPr lang="en-IN" sz="5400" u="sng" dirty="0"/>
              <a:t>Cancellation Behavior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1726-0B92-9DEF-EBA4-3E831788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896" y="1868129"/>
            <a:ext cx="10018713" cy="489646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dirty="0"/>
              <a:t>    Insight:</a:t>
            </a:r>
          </a:p>
          <a:p>
            <a:r>
              <a:rPr lang="en-US" sz="11200" dirty="0"/>
              <a:t>Peak-hour cancellations increase by </a:t>
            </a:r>
            <a:r>
              <a:rPr lang="en-US" sz="11200" b="1" dirty="0"/>
              <a:t>~30–40%</a:t>
            </a:r>
            <a:r>
              <a:rPr lang="en-US" sz="11200" dirty="0"/>
              <a:t> </a:t>
            </a:r>
          </a:p>
          <a:p>
            <a:r>
              <a:rPr lang="en-US" sz="11200" dirty="0"/>
              <a:t>Driver cancellations increase for: </a:t>
            </a:r>
          </a:p>
          <a:p>
            <a:pPr marL="457200" lvl="1" indent="0">
              <a:buNone/>
            </a:pPr>
            <a:r>
              <a:rPr lang="en-US" sz="11200" dirty="0"/>
              <a:t>Long-distance rides , low fare bookings</a:t>
            </a:r>
          </a:p>
          <a:p>
            <a:pPr marL="457200" lvl="1" indent="0">
              <a:buNone/>
            </a:pPr>
            <a:r>
              <a:rPr lang="en-US" sz="11200" dirty="0"/>
              <a:t> </a:t>
            </a:r>
          </a:p>
          <a:p>
            <a:pPr marL="0" indent="0">
              <a:buNone/>
            </a:pPr>
            <a:r>
              <a:rPr lang="en-US" sz="11200" b="1" dirty="0"/>
              <a:t>💡 Interpretation:</a:t>
            </a:r>
          </a:p>
          <a:p>
            <a:r>
              <a:rPr lang="en-US" sz="11200" dirty="0"/>
              <a:t>Customers cancel due to: </a:t>
            </a:r>
          </a:p>
          <a:p>
            <a:pPr marL="457200" lvl="1" indent="0">
              <a:buNone/>
            </a:pPr>
            <a:r>
              <a:rPr lang="en-US" sz="11200" dirty="0"/>
              <a:t>Long waiting times , price surge dissatisfaction</a:t>
            </a:r>
          </a:p>
          <a:p>
            <a:r>
              <a:rPr lang="en-US" sz="11200" dirty="0"/>
              <a:t>Drivers cancel due to: </a:t>
            </a:r>
          </a:p>
          <a:p>
            <a:pPr marL="457200" lvl="1" indent="0">
              <a:buNone/>
            </a:pPr>
            <a:r>
              <a:rPr lang="en-US" sz="11200" dirty="0"/>
              <a:t>Low incentives, unprofitable trips</a:t>
            </a:r>
          </a:p>
          <a:p>
            <a:pPr marL="457200" lvl="1" indent="0">
              <a:buNone/>
            </a:pPr>
            <a:endParaRPr lang="en-US" sz="8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79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0EBF-DCC5-2246-F3FE-24F63B80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6200"/>
            <a:ext cx="10098089" cy="1093839"/>
          </a:xfrm>
        </p:spPr>
        <p:txBody>
          <a:bodyPr>
            <a:normAutofit/>
          </a:bodyPr>
          <a:lstStyle/>
          <a:p>
            <a:r>
              <a:rPr lang="en-IN" sz="5400" u="sng" dirty="0"/>
              <a:t>Revenue vs Volume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8C0A-1E26-F4BE-69A3-F87AF835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452" y="2202426"/>
            <a:ext cx="10018713" cy="44048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b="1" dirty="0"/>
              <a:t>    Insight:</a:t>
            </a:r>
          </a:p>
          <a:p>
            <a:r>
              <a:rPr lang="en-US" sz="3500" b="1" dirty="0"/>
              <a:t>Short rides (&lt;5 km)</a:t>
            </a:r>
            <a:r>
              <a:rPr lang="en-US" sz="3500" dirty="0"/>
              <a:t> = High volume but low revenue </a:t>
            </a:r>
          </a:p>
          <a:p>
            <a:r>
              <a:rPr lang="en-US" sz="3500" b="1" dirty="0"/>
              <a:t>Medium rides (5–15 km)</a:t>
            </a:r>
            <a:r>
              <a:rPr lang="en-US" sz="3500" dirty="0"/>
              <a:t> = Balanced (best segment) </a:t>
            </a:r>
          </a:p>
          <a:p>
            <a:r>
              <a:rPr lang="en-US" sz="3500" b="1" dirty="0"/>
              <a:t>Long rides (&gt;15 km)</a:t>
            </a:r>
            <a:r>
              <a:rPr lang="en-US" sz="3500" dirty="0"/>
              <a:t> = Low volume but high revenue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b="1" dirty="0"/>
              <a:t>💡 Interpretation:</a:t>
            </a:r>
          </a:p>
          <a:p>
            <a:r>
              <a:rPr lang="en-US" sz="3500" dirty="0"/>
              <a:t>Business depends heavily on </a:t>
            </a:r>
            <a:r>
              <a:rPr lang="en-US" sz="3500" b="1" dirty="0"/>
              <a:t>frequent short rides</a:t>
            </a:r>
            <a:r>
              <a:rPr lang="en-US" sz="3500" dirty="0"/>
              <a:t> </a:t>
            </a:r>
          </a:p>
          <a:p>
            <a:r>
              <a:rPr lang="en-US" sz="3500" dirty="0"/>
              <a:t>Profitability comes from </a:t>
            </a:r>
            <a:r>
              <a:rPr lang="en-US" sz="3500" b="1" dirty="0"/>
              <a:t>medium + long rides</a:t>
            </a:r>
            <a:r>
              <a:rPr lang="en-US" sz="3500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28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17A7-0BA5-A52B-4B7C-16DB6B36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2" cy="1074174"/>
          </a:xfrm>
        </p:spPr>
        <p:txBody>
          <a:bodyPr>
            <a:normAutofit/>
          </a:bodyPr>
          <a:lstStyle/>
          <a:p>
            <a:r>
              <a:rPr lang="en-IN" sz="5400" u="sng" dirty="0"/>
              <a:t>Vehicle Type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DA7B-C368-CEFC-8D28-505888ABA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917" y="2054943"/>
            <a:ext cx="10018713" cy="44835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800" b="1" dirty="0"/>
              <a:t>    Insight:</a:t>
            </a:r>
          </a:p>
          <a:p>
            <a:r>
              <a:rPr lang="en-IN" sz="3800" b="1" dirty="0"/>
              <a:t>Prime Sedan</a:t>
            </a:r>
            <a:r>
              <a:rPr lang="en-IN" sz="3800" dirty="0"/>
              <a:t> → Highest revenue generator </a:t>
            </a:r>
          </a:p>
          <a:p>
            <a:r>
              <a:rPr lang="en-IN" sz="3800" b="1" dirty="0"/>
              <a:t>Auto/Bike</a:t>
            </a:r>
            <a:r>
              <a:rPr lang="en-IN" sz="3800" dirty="0"/>
              <a:t> → Highest booking volume </a:t>
            </a:r>
          </a:p>
          <a:p>
            <a:r>
              <a:rPr lang="en-IN" sz="3800" b="1" dirty="0"/>
              <a:t>Mini</a:t>
            </a:r>
            <a:r>
              <a:rPr lang="en-IN" sz="3800" dirty="0"/>
              <a:t> → Balanced usage </a:t>
            </a:r>
          </a:p>
          <a:p>
            <a:endParaRPr lang="en-IN" sz="3800" dirty="0"/>
          </a:p>
          <a:p>
            <a:pPr marL="0" indent="0">
              <a:buNone/>
            </a:pPr>
            <a:r>
              <a:rPr lang="en-IN" sz="3800" b="1" dirty="0"/>
              <a:t>💡 Interpretation:</a:t>
            </a:r>
          </a:p>
          <a:p>
            <a:r>
              <a:rPr lang="en-IN" sz="3800" dirty="0"/>
              <a:t>Customers choose: </a:t>
            </a:r>
          </a:p>
          <a:p>
            <a:pPr marL="457200" lvl="1" indent="0">
              <a:buNone/>
            </a:pPr>
            <a:r>
              <a:rPr lang="en-IN" sz="3800" dirty="0"/>
              <a:t>Budget → Auto/Bike </a:t>
            </a:r>
          </a:p>
          <a:p>
            <a:pPr marL="457200" lvl="1" indent="0">
              <a:buNone/>
            </a:pPr>
            <a:r>
              <a:rPr lang="en-IN" sz="3800" dirty="0"/>
              <a:t>Comfort → Sedan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28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E7B-BBF6-B2D1-E610-107318A3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225908" cy="975852"/>
          </a:xfrm>
        </p:spPr>
        <p:txBody>
          <a:bodyPr>
            <a:normAutofit/>
          </a:bodyPr>
          <a:lstStyle/>
          <a:p>
            <a:r>
              <a:rPr lang="en-IN" sz="5400" u="sng" dirty="0"/>
              <a:t>Peak Hour Operational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8CA1-1570-884C-D67F-480B82F6C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450" y="1592826"/>
            <a:ext cx="10097729" cy="5370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/>
              <a:t>    Insight:</a:t>
            </a:r>
          </a:p>
          <a:p>
            <a:r>
              <a:rPr lang="en-IN" sz="3200" dirty="0"/>
              <a:t>Demand &gt; Supply </a:t>
            </a:r>
            <a:r>
              <a:rPr lang="en-IN" sz="3200" dirty="0">
                <a:sym typeface="Wingdings" panose="05000000000000000000" pitchFamily="2" charset="2"/>
              </a:rPr>
              <a:t></a:t>
            </a:r>
            <a:r>
              <a:rPr lang="en-IN" sz="3200" dirty="0"/>
              <a:t> during peak hours </a:t>
            </a:r>
          </a:p>
          <a:p>
            <a:r>
              <a:rPr lang="en-IN" sz="3200" dirty="0"/>
              <a:t>Leads to: </a:t>
            </a:r>
          </a:p>
          <a:p>
            <a:pPr marL="457200" lvl="1" indent="0">
              <a:buNone/>
            </a:pPr>
            <a:r>
              <a:rPr lang="en-IN" sz="3200" dirty="0"/>
              <a:t>Increased cancellations </a:t>
            </a:r>
          </a:p>
          <a:p>
            <a:pPr marL="457200" lvl="1" indent="0">
              <a:buNone/>
            </a:pPr>
            <a:r>
              <a:rPr lang="en-IN" sz="3200" dirty="0"/>
              <a:t>Higher waiting time , surge pricing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sz="3200" b="1" dirty="0"/>
              <a:t>💡 Interpretation:</a:t>
            </a:r>
          </a:p>
          <a:p>
            <a:r>
              <a:rPr lang="en-IN" sz="3200" dirty="0"/>
              <a:t>Platform suffers from </a:t>
            </a:r>
            <a:r>
              <a:rPr lang="en-IN" sz="3200" b="1" dirty="0"/>
              <a:t>supply-demand imbalance</a:t>
            </a:r>
            <a:r>
              <a:rPr lang="en-IN" sz="3200" dirty="0"/>
              <a:t> 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11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A518-50E0-4842-A361-A046340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848" y="86032"/>
            <a:ext cx="10147250" cy="1103671"/>
          </a:xfrm>
        </p:spPr>
        <p:txBody>
          <a:bodyPr>
            <a:normAutofit/>
          </a:bodyPr>
          <a:lstStyle/>
          <a:p>
            <a:r>
              <a:rPr lang="en-IN" sz="5400" u="sng" dirty="0"/>
              <a:t>Payment Behavior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45B3-A1B3-4C2C-E220-58E41C8B0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091" y="2045111"/>
            <a:ext cx="10018713" cy="4336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    Insight:</a:t>
            </a:r>
          </a:p>
          <a:p>
            <a:r>
              <a:rPr lang="en-US" sz="3200" b="1" dirty="0"/>
              <a:t>UPI &amp; Digital payments dominate</a:t>
            </a:r>
            <a:r>
              <a:rPr lang="en-US" sz="3200" dirty="0"/>
              <a:t> </a:t>
            </a:r>
          </a:p>
          <a:p>
            <a:r>
              <a:rPr lang="en-US" sz="3200" dirty="0"/>
              <a:t>Cash usage is declining 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💡 Interpretation:</a:t>
            </a:r>
          </a:p>
          <a:p>
            <a:r>
              <a:rPr lang="en-US" sz="3200" dirty="0"/>
              <a:t>Strong shift toward </a:t>
            </a:r>
            <a:r>
              <a:rPr lang="en-US" sz="3200" b="1" dirty="0"/>
              <a:t>cashless economy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5489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47A8-69A6-313B-0C74-F8BEE847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137" y="164691"/>
            <a:ext cx="10186579" cy="739877"/>
          </a:xfrm>
        </p:spPr>
        <p:txBody>
          <a:bodyPr>
            <a:noAutofit/>
          </a:bodyPr>
          <a:lstStyle/>
          <a:p>
            <a:r>
              <a:rPr lang="en-IN" sz="5400" u="sng" dirty="0"/>
              <a:t>Customer Retention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02BD-4D9A-A745-D5D8-3399A7F4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7097" y="2241754"/>
            <a:ext cx="10018713" cy="4060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    Insight:</a:t>
            </a:r>
          </a:p>
          <a:p>
            <a:r>
              <a:rPr lang="en-US" sz="3200" dirty="0"/>
              <a:t>High cancellations → poor user experience </a:t>
            </a:r>
          </a:p>
          <a:p>
            <a:r>
              <a:rPr lang="en-US" sz="3200" dirty="0"/>
              <a:t>Peak-hour failures → churn risk 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💡 Interpretation:</a:t>
            </a:r>
          </a:p>
          <a:p>
            <a:r>
              <a:rPr lang="en-US" sz="3200" dirty="0"/>
              <a:t>First-time users may not return after bad experience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66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5337-7644-CC67-F57E-86BB4E0F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48" y="366252"/>
            <a:ext cx="10018712" cy="1025013"/>
          </a:xfrm>
        </p:spPr>
        <p:txBody>
          <a:bodyPr>
            <a:normAutofit/>
          </a:bodyPr>
          <a:lstStyle/>
          <a:p>
            <a:r>
              <a:rPr lang="en-IN" sz="5400" u="sng" dirty="0">
                <a:solidFill>
                  <a:srgbClr val="C00000"/>
                </a:solidFill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4D1539-F2AB-F1FF-B405-171D2A104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1355" y="1558675"/>
            <a:ext cx="1158041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peak-hour incentives for drivers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cancellation penalties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allocation algorithm</a:t>
            </a:r>
            <a:endParaRPr lang="en-US" altLang="en-US" sz="36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discounts during non-peak hours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pricing based on demand(dynamic pricing) </a:t>
            </a:r>
          </a:p>
        </p:txBody>
      </p:sp>
    </p:spTree>
    <p:extLst>
      <p:ext uri="{BB962C8B-B14F-4D97-AF65-F5344CB8AC3E}">
        <p14:creationId xmlns:p14="http://schemas.microsoft.com/office/powerpoint/2010/main" val="46865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C55D-3ABA-F2B1-18BF-6E1FAE6F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498" y="2308123"/>
            <a:ext cx="10018713" cy="1752599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Arial Black" panose="020B0A04020102020204" pitchFamily="34" charset="0"/>
              </a:rPr>
              <a:t>THANK YOU</a:t>
            </a:r>
            <a:endParaRPr lang="en-IN" sz="66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082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94</TotalTime>
  <Words>338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Corbel</vt:lpstr>
      <vt:lpstr>Wingdings</vt:lpstr>
      <vt:lpstr>Parallax</vt:lpstr>
      <vt:lpstr>Ride Booking Analysis</vt:lpstr>
      <vt:lpstr>Objective</vt:lpstr>
      <vt:lpstr>EDA Insights</vt:lpstr>
      <vt:lpstr>Demand Insights</vt:lpstr>
      <vt:lpstr>Cancellation Behavior </vt:lpstr>
      <vt:lpstr>Revenue vs Volume Trade-off</vt:lpstr>
      <vt:lpstr>Vehicle Type Performance</vt:lpstr>
      <vt:lpstr>Peak Hour Operational Stress</vt:lpstr>
      <vt:lpstr>Payment Behavior Insights</vt:lpstr>
      <vt:lpstr>Customer Retention Risk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Jain</dc:creator>
  <cp:lastModifiedBy>Ayushi Jain</cp:lastModifiedBy>
  <cp:revision>14</cp:revision>
  <dcterms:created xsi:type="dcterms:W3CDTF">2026-03-21T10:39:13Z</dcterms:created>
  <dcterms:modified xsi:type="dcterms:W3CDTF">2026-03-30T13:07:36Z</dcterms:modified>
</cp:coreProperties>
</file>